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Open Sans Light"/>
      <p:regular r:id="rId201322"/>
    </p:embeddedFont>
    <p:embeddedFont>
      <p:font typeface="Open Sans Bold"/>
      <p:regular r:id="rId201323"/>
    </p:embeddedFont>
    <p:embeddedFont>
      <p:font typeface="Open Sans"/>
      <p:regular r:id="rId201324"/>
    </p:embeddedFont>
    <p:embeddedFont>
      <p:font typeface="Open Sans Medium"/>
      <p:regular r:id="rId201325"/>
    </p:embeddedFont>
    <p:embeddedFont>
      <p:font typeface="Open Sans SemiBold"/>
      <p:regular r:id="rId201326"/>
    </p:embeddedFont>
    <p:embeddedFont>
      <p:font typeface="Open Sans ExtraBold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948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Handwritten Mathematical Symbol Recognition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9340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deep learning and image processing system for intelligent recognition of handwritten mathematical content — powering digital education, research, and automated document analysis.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433316"/>
            <a:ext cx="1879848" cy="215354"/>
          </a:xfrm>
          <a:prstGeom prst="roundRect">
            <a:avLst>
              <a:gd name="adj" fmla="val 22119"/>
            </a:avLst>
          </a:prstGeom>
          <a:solidFill>
            <a:srgbClr val="EBE2E0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475806"/>
            <a:ext cx="216693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· COMPUTER VISION · EDTECH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8533"/>
            <a:ext cx="4722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Why This Problem Matters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3925119" y="946249"/>
            <a:ext cx="4722763" cy="868710"/>
          </a:xfrm>
          <a:prstGeom prst="roundRect">
            <a:avLst>
              <a:gd name="adj" fmla="val 5890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51697" y="1072828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Digital Education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051697" y="1325984"/>
            <a:ext cx="446960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 handwritten math into searchable, interactive digital content for online learning platforms.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925119" y="1919585"/>
            <a:ext cx="4722763" cy="868710"/>
          </a:xfrm>
          <a:prstGeom prst="roundRect">
            <a:avLst>
              <a:gd name="adj" fmla="val 5890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51697" y="2046163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Automated Grading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51697" y="2299320"/>
            <a:ext cx="446960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Eliminate manual evaluation bottlenecks in examinations and assignment assessments.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25119" y="2892921"/>
            <a:ext cx="4722763" cy="868710"/>
          </a:xfrm>
          <a:prstGeom prst="roundRect">
            <a:avLst>
              <a:gd name="adj" fmla="val 5890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51697" y="3019499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Document Digitization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051697" y="3272656"/>
            <a:ext cx="446960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Preserve and index legacy scientific manuscripts, research papers, and textbooks.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25119" y="3866257"/>
            <a:ext cx="4722763" cy="868710"/>
          </a:xfrm>
          <a:prstGeom prst="roundRect">
            <a:avLst>
              <a:gd name="adj" fmla="val 5890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51697" y="3992835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Intelligent Tutoring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051697" y="4245992"/>
            <a:ext cx="446960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real-time feedback systems that understand and respond to student handwriting.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678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Where Traditional OCR Falls Short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10233"/>
            <a:ext cx="5211589" cy="2953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1013" y="2176760"/>
            <a:ext cx="2691557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 OCR engines are designed for printed text. Handwritten mathematics introduces a fundamentally harder set of challenges: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028182"/>
            <a:ext cx="2668414" cy="7155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9429" y="4144342"/>
            <a:ext cx="23789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Style Variability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69429" y="4347493"/>
            <a:ext cx="237894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writer forms symbols differently — loops, slants, and stroke widths vary widely.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7756" y="4028182"/>
            <a:ext cx="2668414" cy="7155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11066" y="4144342"/>
            <a:ext cx="23789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Complex Structures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3411066" y="4347493"/>
            <a:ext cx="237894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Fractions, integrals, and subscripts create nested, overlapping spatial relationships.</a:t>
            </a:r>
            <a:endParaRPr lang="en-US" sz="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9393" y="4028182"/>
            <a:ext cx="2668488" cy="71556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52704" y="4144342"/>
            <a:ext cx="237901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Image Quality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6152704" y="4347493"/>
            <a:ext cx="2379018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Noise, shadows, low resolution, and skewed scans degrade recognition accuracy.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Proposed Solution: An Intelligent Recognition Pipeline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transforms a raw handwritten image into classified mathematical symbols with confidence scores through a structured, end-to-end pipeline.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757" y="807021"/>
            <a:ext cx="7272486" cy="39740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94731" y="2669080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Upload Image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149912" y="2528590"/>
            <a:ext cx="168510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Preprocess &amp; Segment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71232" y="2536870"/>
            <a:ext cx="168510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Deep Learning Inference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820841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stage is modular and independently optimizable, enabling continuous improvement without disrupting the full workflow.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System Architecture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290688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Layer-by-Layer Responsibility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442567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architecture separates concerns across six distinct layers, ensuring scalability, maintainability, and fault isolation.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564978"/>
            <a:ext cx="3986733" cy="597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Presentation Layer: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React/Next.js frontend with responsive UI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Application Layer: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Node.js/Python backend with JWT auth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Image Processing: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OpenCV-based preprocessing engine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Deep Learning: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TensorFlow/PyTorch inference serving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Database: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PostgreSQL + Redis for caching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Cloud: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Containerized deployment on AWS/GCP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061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Image Processing &amp; Deep Learning Methodology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67123"/>
            <a:ext cx="838200" cy="517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562299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868811"/>
            <a:ext cx="1905000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Grayscale conversion, Gaussian blur, adaptive thresholding, and morphological operations clean raw input images.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867123"/>
            <a:ext cx="838200" cy="517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562299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Segmentation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2868811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Connected component analysis and contour detection isolate individual symbols for classification.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867123"/>
            <a:ext cx="838200" cy="517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562299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Feature Extraction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2868811"/>
            <a:ext cx="19050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 layers learn hierarchical spatial features — edges, curves, and structural patterns unique to each symbol.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867123"/>
            <a:ext cx="838200" cy="5179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562299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Classification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2868811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ResNet, EfficientNet, or Vision Transformer models classify symbols with softmax confidence scores.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110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Model Selection &amp; Performance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60549"/>
            <a:ext cx="3927277" cy="28268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5367" y="1047452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Choosing the Right Architecture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25367" y="1342430"/>
            <a:ext cx="3927277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selection balances accuracy, latency, and deployment constraints.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EfficientNet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offers the best production trade-off for most use cases.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831" y="4108549"/>
            <a:ext cx="4024759" cy="6441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6509" y="4122837"/>
            <a:ext cx="386008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Evaluation Metrics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46509" y="4375993"/>
            <a:ext cx="386008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Accuracy, Precision, Recall, F1-Score, Confusion Matrix, and Inference Latency are tracked per symbol class.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3122" y="4108549"/>
            <a:ext cx="4024759" cy="6441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87801" y="4122837"/>
            <a:ext cx="386008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Continuous Learning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787801" y="4375993"/>
            <a:ext cx="386008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Feedback loops retrain models on misclassified samples, improving accuracy over time.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7446"/>
            <a:ext cx="4722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Technology Stack</a:t>
            </a:r>
            <a:endParaRPr lang="en-US" sz="2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036513"/>
            <a:ext cx="202629" cy="20262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56484" y="1042467"/>
            <a:ext cx="43913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4256484" y="1330821"/>
            <a:ext cx="43913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React.js / Next.js, D3.js for visualizations, responsive UI with Canvas API for image annotation.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034183"/>
            <a:ext cx="202629" cy="20262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56484" y="2040136"/>
            <a:ext cx="43913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Backend &amp; APIs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4256484" y="2328490"/>
            <a:ext cx="43913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FastAPI / Flask, RESTful APIs, JWT authentication, Celery for async task queues.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031852"/>
            <a:ext cx="202629" cy="20262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256484" y="3037805"/>
            <a:ext cx="43913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4256484" y="3326160"/>
            <a:ext cx="43913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TensorFlow / PyTorch, Keras, OpenCV, Albumentations for augmentation, ONNX for model export.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4029521"/>
            <a:ext cx="202629" cy="20262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56484" y="4035475"/>
            <a:ext cx="43913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4256484" y="4323829"/>
            <a:ext cx="43913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PostgreSQL, Redis, Docker, Kubernetes, AWS S3 / GCP Cloud Storage, CI/CD via GitHub Actions.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715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Real-World Applications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73659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8250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Academic Institutions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89015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Schools, colleges, and universities deploy the system for automated grading, digital note-taking, and examination processing.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773659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88250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EdTech Platforms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189015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Online learning platforms integrate recognition APIs to enable interactive problem-solving and real-time tutoring.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773659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88250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Research &amp; Publishing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189015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Scientific organizations and publishers use the system to digitize legacy manuscripts and build searchable equation databases.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417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Challenges, Future Roadmap &amp; 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69045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Current Challenges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533227"/>
            <a:ext cx="1887662" cy="1525488"/>
          </a:xfrm>
          <a:prstGeom prst="roundRect">
            <a:avLst>
              <a:gd name="adj" fmla="val 3781"/>
            </a:avLst>
          </a:prstGeom>
          <a:solidFill>
            <a:srgbClr val="FFFCFA"/>
          </a:solidFill>
          <a:ln w="19050">
            <a:solidFill>
              <a:srgbClr val="D1C8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2463" y="1689571"/>
            <a:ext cx="157497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Diverse Handwriting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2463" y="2037085"/>
            <a:ext cx="1574974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Addressed via data augmentation and transfer learning on large, varied datasets.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6758" y="1533227"/>
            <a:ext cx="1887736" cy="1525488"/>
          </a:xfrm>
          <a:prstGeom prst="roundRect">
            <a:avLst>
              <a:gd name="adj" fmla="val 3781"/>
            </a:avLst>
          </a:prstGeom>
          <a:solidFill>
            <a:srgbClr val="FFFCFA"/>
          </a:solidFill>
          <a:ln w="19050">
            <a:solidFill>
              <a:srgbClr val="D1C8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3102" y="1689571"/>
            <a:ext cx="157504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Overlapping Symbols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73102" y="2037085"/>
            <a:ext cx="1575048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segmentation using U-Net architectures and attention mechanisms.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6119" y="3191694"/>
            <a:ext cx="3908375" cy="1092845"/>
          </a:xfrm>
          <a:prstGeom prst="roundRect">
            <a:avLst>
              <a:gd name="adj" fmla="val 5278"/>
            </a:avLst>
          </a:prstGeom>
          <a:solidFill>
            <a:srgbClr val="FFFCFA"/>
          </a:solidFill>
          <a:ln w="19050">
            <a:solidFill>
              <a:srgbClr val="D1C8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463" y="3348038"/>
            <a:ext cx="359568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Real-Time Performance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2463" y="3695551"/>
            <a:ext cx="359568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Edge AI deployment and model quantization reduce latency for live camera input.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45372" y="1036067"/>
            <a:ext cx="4106168" cy="3699942"/>
          </a:xfrm>
          <a:prstGeom prst="roundRect">
            <a:avLst>
              <a:gd name="adj" fmla="val 2673"/>
            </a:avLst>
          </a:prstGeom>
          <a:solidFill>
            <a:srgbClr val="835E54"/>
          </a:solidFill>
          <a:ln/>
        </p:spPr>
      </p:sp>
      <p:sp>
        <p:nvSpPr>
          <p:cNvPr id="14" name="Text 12"/>
          <p:cNvSpPr/>
          <p:nvPr/>
        </p:nvSpPr>
        <p:spPr>
          <a:xfrm>
            <a:off x="4782666" y="1169045"/>
            <a:ext cx="383158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Future Enhancements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82666" y="1516559"/>
            <a:ext cx="3831580" cy="1746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Transformer-based vision models (ViT, Swin Transformer)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expression parsing with LaTeX generation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Multilingual mathematical notation support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Explainable AI for transparent recognition decisions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 and edge AI deployment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Integration with digital whiteboards and AI tutors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82666" y="3413001"/>
            <a:ext cx="3831580" cy="1173361"/>
          </a:xfrm>
          <a:prstGeom prst="roundRect">
            <a:avLst>
              <a:gd name="adj" fmla="val 4916"/>
            </a:avLst>
          </a:prstGeom>
          <a:solidFill>
            <a:srgbClr val="4E3832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960" y="3626346"/>
            <a:ext cx="171599" cy="13729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228853" y="3567038"/>
            <a:ext cx="3248099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system bridges handwritten mathematics and intelligent digital workflows — enabling scalable, accurate, and accessible math content recognition for education and research worldwide.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2026-07-28T05:32:24Z</dcterms:created>
  <dcterms:modified xsi:type="dcterms:W3CDTF">2026-07-28T05:32:24Z</dcterms:modified>
</cp:coreProperties>
</file>